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Amber — AI Compliance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1600" b="0">
                <a:latin typeface="Calibri"/>
              </a:rPr>
              <a:t>Интеллектуальный помощник для compliance-офицера белорусского банка</a:t>
            </a:r>
          </a:p>
          <a:p>
            <a:pPr/>
          </a:p>
          <a:p>
            <a:pPr/>
            <a:r>
              <a:rPr sz="1600" b="0">
                <a:latin typeface="Calibri"/>
              </a:rPr>
              <a:t>Минск, 2026</a:t>
            </a:r>
          </a:p>
          <a:p>
            <a:pPr/>
          </a:p>
          <a:p>
            <a:pPr/>
            <a:r>
              <a:rPr sz="1600" b="0">
                <a:latin typeface="Calibri"/>
              </a:rPr>
              <a:t>Контекст: банковская система Беларуси</a:t>
            </a:r>
          </a:p>
          <a:p>
            <a:pPr/>
            <a:r>
              <a:rPr sz="1600" b="0">
                <a:latin typeface="Calibri"/>
              </a:rPr>
              <a:t>• С 1 июля 2026 — единые стандарты антифрод-систем: автоматический анализ и блокировка подозрительных операций.</a:t>
            </a:r>
          </a:p>
          <a:p>
            <a:pPr/>
            <a:r>
              <a:rPr sz="1600" b="0">
                <a:latin typeface="Calibri"/>
              </a:rPr>
              <a:t>• Криптобанки (Указ №19): фиат и крипта на одном балансе; классический AML не видит связку.</a:t>
            </a:r>
          </a:p>
          <a:p>
            <a:pPr/>
            <a:r>
              <a:rPr sz="1600" b="0">
                <a:latin typeface="Calibri"/>
              </a:rPr>
              <a:t>• 23 крипторезидента ПВТ — легальные фиатные платежи через банковскую систему.</a:t>
            </a:r>
          </a:p>
          <a:p>
            <a:pPr/>
            <a:r>
              <a:rPr sz="1600" b="0">
                <a:latin typeface="Calibri"/>
              </a:rPr>
              <a:t>• Мало AML-специалистов; объём алертов растёт.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текущие AML-системы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«Чёрный ящик» — флаг Suspicious без объяснения; офицер часами разбирается.</a:t>
            </a:r>
          </a:p>
          <a:p>
            <a:pPr/>
            <a:r>
              <a:rPr sz="1500" b="0">
                <a:latin typeface="Calibri"/>
              </a:rPr>
              <a:t>95% ложных срабатываний — жёсткие пороги дают лавину пустых алертов.</a:t>
            </a:r>
          </a:p>
          <a:p>
            <a:pPr/>
            <a:r>
              <a:rPr sz="1500" b="0">
                <a:latin typeface="Calibri"/>
              </a:rPr>
              <a:t>Слепая зона фиат ↔ крипта — сквозной картины нет (фиат в банке + крипта на санкционный кошелёк).</a:t>
            </a:r>
          </a:p>
          <a:p>
            <a:pPr/>
            <a:r>
              <a:rPr sz="1500" b="0">
                <a:latin typeface="Calibri"/>
              </a:rPr>
              <a:t>SAR вручную — 1,5–2 часа на документ, сотни часов в месяц.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latin typeface="Calibri"/>
              </a:rPr>
              <a:t>Решение: Amber — слой поверх 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Consolas"/>
              </a:rPr>
              <a:t>  Ваша AML-система                Amber API</a:t>
            </a:r>
          </a:p>
          <a:p>
            <a:r>
              <a:rPr sz="900" b="0">
                <a:latin typeface="Consolas"/>
              </a:rPr>
              <a:t>  ┌──────────────────┐           ┌──────────────────┐</a:t>
            </a:r>
          </a:p>
          <a:p>
            <a:r>
              <a:rPr sz="900" b="0">
                <a:latin typeface="Consolas"/>
              </a:rPr>
              <a:t>  │  Алерт           │──────────▶│  POST /analyze   │</a:t>
            </a:r>
          </a:p>
          <a:p>
            <a:r>
              <a:rPr sz="900" b="0">
                <a:latin typeface="Consolas"/>
              </a:rPr>
              <a:t>  │  Экспорт (CSV)   │           └────────┬─────────┘</a:t>
            </a:r>
          </a:p>
          <a:p>
            <a:r>
              <a:rPr sz="900" b="0">
                <a:latin typeface="Consolas"/>
              </a:rPr>
              <a:t>  └──────────────────┘                    │</a:t>
            </a:r>
          </a:p>
          <a:p>
            <a:r>
              <a:rPr sz="900" b="0">
                <a:latin typeface="Consolas"/>
              </a:rPr>
              <a:t>                                          ▼</a:t>
            </a:r>
          </a:p>
          <a:p>
            <a:r>
              <a:rPr sz="900" b="0">
                <a:latin typeface="Consolas"/>
              </a:rPr>
              <a:t>                                ┌──────────────────┐</a:t>
            </a:r>
          </a:p>
          <a:p>
            <a:r>
              <a:rPr sz="900" b="0">
                <a:latin typeface="Consolas"/>
              </a:rPr>
              <a:t>                                │  XAI Engine      │</a:t>
            </a:r>
          </a:p>
          <a:p>
            <a:r>
              <a:rPr sz="900" b="0">
                <a:latin typeface="Consolas"/>
              </a:rPr>
              <a:t>                                │  Profiler / AnomalyDet │</a:t>
            </a:r>
          </a:p>
          <a:p>
            <a:r>
              <a:rPr sz="900" b="0">
                <a:latin typeface="Consolas"/>
              </a:rPr>
              <a:t>                                │  Analyst / Reporter    │</a:t>
            </a:r>
          </a:p>
          <a:p>
            <a:r>
              <a:rPr sz="900" b="0">
                <a:latin typeface="Consolas"/>
              </a:rPr>
              <a:t>                                └────────┬─────────┘</a:t>
            </a:r>
          </a:p>
          <a:p>
            <a:r>
              <a:rPr sz="900" b="0">
                <a:latin typeface="Consolas"/>
              </a:rPr>
              <a:t>                                         ▼</a:t>
            </a:r>
          </a:p>
          <a:p>
            <a:r>
              <a:rPr sz="900" b="0">
                <a:latin typeface="Consolas"/>
              </a:rPr>
              <a:t>                                Ответ за 3–5 с: объяснение, SAR, аномалии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latin typeface="Calibri"/>
              </a:rPr>
              <a:t>Подключение — 1 рабочий день. Без замены AML. Без доступа к вашим БД.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Amber даёт банку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1. Объяснимый ИИ — паттерн, причина риска, норма, что делать дальше.</a:t>
            </a:r>
          </a:p>
          <a:p>
            <a:pPr/>
            <a:r>
              <a:rPr sz="1500" b="0">
                <a:latin typeface="Calibri"/>
              </a:rPr>
              <a:t>2. Автоматический проект SAR для ДФР (русский, формат РБ, Декрет №8, Указ №19, Нацбанк).</a:t>
            </a:r>
          </a:p>
          <a:p>
            <a:pPr/>
            <a:r>
              <a:rPr sz="1500" b="0">
                <a:latin typeface="Calibri"/>
              </a:rPr>
              <a:t>3. Аномалии вне правил — профиль «нормы» клиента и отклонения.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latin typeface="Calibri"/>
              </a:rPr>
              <a:t>Три режима работы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2130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3263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Для чего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Что находит</a:t>
                      </a:r>
                    </a:p>
                  </a:txBody>
                  <a:tcPr/>
                </a:tc>
              </a:tr>
              <a:tr h="53263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fiat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Классический банковский 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Структурирование, смурфинг, круговые переводы, профиль, аномалии</a:t>
                      </a:r>
                    </a:p>
                  </a:txBody>
                  <a:tcPr/>
                </a:tc>
              </a:tr>
              <a:tr h="53263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Крипто-операции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Санкции, миксеры, PEP</a:t>
                      </a:r>
                    </a:p>
                  </a:txBody>
                  <a:tcPr/>
                </a:tc>
              </a:tr>
              <a:tr h="53263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Связка фиат ↔ крипта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Временные и суммовые корреляции фиат ↔ крипта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Calibri"/>
              </a:rPr>
              <a:t>Юрисдикции: РБ (Декрет №8, Указ №19, Нацбанк), РФ (115-ФЗ), ЕС (5AMLD + MiCA).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Детектор аномалий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Обычный AML: «сумма &gt; порога → флаг».</a:t>
            </a:r>
          </a:p>
          <a:p>
            <a:pPr/>
            <a:r>
              <a:rPr sz="1500" b="0">
                <a:latin typeface="Calibri"/>
              </a:rPr>
              <a:t>Amber: профиль за 90 дней — сравнение с нормой и объяснение.</a:t>
            </a:r>
          </a:p>
          <a:p>
            <a:pPr/>
            <a:r>
              <a:rPr sz="1500" b="0">
                <a:latin typeface="Calibri"/>
              </a:rPr>
              <a:t>Шаги: Profiler строит норму (чек, частота, контрагенты, география, время); AnomalyDetector сравнивает; anomaly_score 0–100 + текст.</a:t>
            </a:r>
          </a:p>
          <a:p>
            <a:pPr/>
            <a:r>
              <a:rPr sz="1500" b="0">
                <a:latin typeface="Calibri"/>
              </a:rPr>
              <a:t>Пример: score 65/100 — сумма +189% к историческому максимуму; 7 операций при норме до 4; новый контрагент ООО «Технопром»; 23:15.</a:t>
            </a:r>
          </a:p>
          <a:p>
            <a:pPr/>
            <a:r>
              <a:rPr sz="1500" b="0">
                <a:latin typeface="Calibri"/>
              </a:rPr>
              <a:t>Гипотеза: дробление новому контрагенту вне часов — проверить ЕГРЮЛ/ФНС.</a:t>
            </a:r>
          </a:p>
          <a:p>
            <a:pPr/>
            <a:r>
              <a:rPr sz="1500" b="0">
                <a:latin typeface="Calibri"/>
              </a:rPr>
              <a:t>Без ML — статистика, прозрачно и воспроизводимо.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latin typeface="Calibri"/>
              </a:rPr>
              <a:t>Пример SAR от Amber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Consolas"/>
              </a:rPr>
              <a:t>Сообщение о подозрительной операции № AMBER-2026-0506-001</a:t>
            </a:r>
          </a:p>
          <a:p/>
          <a:p>
            <a:r>
              <a:rPr sz="900" b="0">
                <a:latin typeface="Consolas"/>
              </a:rPr>
              <a:t>1. Резюме: доход 1 000 BYN/мес; за 3 дня внесено 17 650 BYN частями 5 800–5 950 BYN — признаки structuring.</a:t>
            </a:r>
          </a:p>
          <a:p/>
          <a:p>
            <a:r>
              <a:rPr sz="900" b="0">
                <a:latin typeface="Consolas"/>
              </a:rPr>
              <a:t>2. Операции:</a:t>
            </a:r>
          </a:p>
          <a:p>
            <a:r>
              <a:rPr sz="900" b="0">
                <a:latin typeface="Consolas"/>
              </a:rPr>
              <a:t>| 29.04.2026 | 5 800 | Внесение |</a:t>
            </a:r>
          </a:p>
          <a:p>
            <a:r>
              <a:rPr sz="900" b="0">
                <a:latin typeface="Consolas"/>
              </a:rPr>
              <a:t>| 30.04.2026 | 5 900 | Внесение |</a:t>
            </a:r>
          </a:p>
          <a:p>
            <a:r>
              <a:rPr sz="900" b="0">
                <a:latin typeface="Consolas"/>
              </a:rPr>
              <a:t>| 02.05.2026 | 5 950 | Внесение |</a:t>
            </a:r>
          </a:p>
          <a:p/>
          <a:p>
            <a:r>
              <a:rPr sz="900" b="0">
                <a:latin typeface="Consolas"/>
              </a:rPr>
              <a:t>3. Паттерны: Structuring; Income mismatch (оборот в 5.8× выше дохода).</a:t>
            </a:r>
          </a:p>
          <a:p/>
          <a:p>
            <a:r>
              <a:rPr sz="900" b="0">
                <a:latin typeface="Consolas"/>
              </a:rPr>
              <a:t>4. Нормы: Декрет №8 ст. 7; Правила Нацбанка РБ о внутреннем контроле.</a:t>
            </a:r>
          </a:p>
          <a:p/>
          <a:p>
            <a:r>
              <a:rPr sz="900" b="0">
                <a:latin typeface="Consolas"/>
              </a:rPr>
              <a:t>5. Рекомендации: запрос происхождения средств; при отказе — эскалация в ДФР.</a:t>
            </a:r>
          </a:p>
          <a:p/>
          <a:p>
            <a:r>
              <a:rPr sz="900" b="0">
                <a:latin typeface="Consolas"/>
              </a:rPr>
              <a:t>⚠ Сгенерировано Amber AI — проверка compliance-офицером.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latin typeface="Calibri"/>
              </a:rPr>
              <a:t>Техническая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Consolas"/>
              </a:rPr>
              <a:t>┌──────────────────────────────────────────────────────┐</a:t>
            </a:r>
          </a:p>
          <a:p>
            <a:r>
              <a:rPr sz="900" b="0">
                <a:latin typeface="Consolas"/>
              </a:rPr>
              <a:t>│                FASTAPI (main.py)                     │</a:t>
            </a:r>
          </a:p>
          <a:p>
            <a:r>
              <a:rPr sz="900" b="0">
                <a:latin typeface="Consolas"/>
              </a:rPr>
              <a:t>│  POST /analyze  ·  GET /health  ·  CORS              │</a:t>
            </a:r>
          </a:p>
          <a:p>
            <a:r>
              <a:rPr sz="900" b="0">
                <a:latin typeface="Consolas"/>
              </a:rPr>
              <a:t>└────────────────────┬─────────────────────────────────┘</a:t>
            </a:r>
          </a:p>
          <a:p>
            <a:r>
              <a:rPr sz="900" b="0">
                <a:latin typeface="Consolas"/>
              </a:rPr>
              <a:t>                     │</a:t>
            </a:r>
          </a:p>
          <a:p>
            <a:r>
              <a:rPr sz="900" b="0">
                <a:latin typeface="Consolas"/>
              </a:rPr>
              <a:t>┌────────────────────▼─────────────────────────────────┐</a:t>
            </a:r>
          </a:p>
          <a:p>
            <a:r>
              <a:rPr sz="900" b="0">
                <a:latin typeface="Consolas"/>
              </a:rPr>
              <a:t>│               XAI ENGINE                           │</a:t>
            </a:r>
          </a:p>
          <a:p>
            <a:r>
              <a:rPr sz="900" b="0">
                <a:latin typeface="Consolas"/>
              </a:rPr>
              <a:t>│  Profiler · AnomalyDetector · Router · Analyst · Reporter │</a:t>
            </a:r>
          </a:p>
          <a:p>
            <a:r>
              <a:rPr sz="900" b="0">
                <a:latin typeface="Consolas"/>
              </a:rPr>
              <a:t>│  Ответы LLM — Pydantic-валидация                   │</a:t>
            </a:r>
          </a:p>
          <a:p>
            <a:r>
              <a:rPr sz="900" b="0">
                <a:latin typeface="Consolas"/>
              </a:rPr>
              <a:t>└────────────────────┬─────────────────────────────────┘</a:t>
            </a:r>
          </a:p>
          <a:p>
            <a:r>
              <a:rPr sz="900" b="0">
                <a:latin typeface="Consolas"/>
              </a:rPr>
              <a:t>                     │</a:t>
            </a:r>
          </a:p>
          <a:p>
            <a:r>
              <a:rPr sz="900" b="0">
                <a:latin typeface="Consolas"/>
              </a:rPr>
              <a:t>┌────────────────────▼─────────────────────────────────┐</a:t>
            </a:r>
          </a:p>
          <a:p>
            <a:r>
              <a:rPr sz="900" b="0">
                <a:latin typeface="Consolas"/>
              </a:rPr>
              <a:t>│  LLM: GPT-4o → Claude (резерв) · Emergency Mode     │</a:t>
            </a:r>
          </a:p>
          <a:p>
            <a:r>
              <a:rPr sz="900" b="0">
                <a:latin typeface="Consolas"/>
              </a:rPr>
              <a:t>│  Zero retention                                    │</a:t>
            </a:r>
          </a:p>
          <a:p>
            <a:r>
              <a:rPr sz="900" b="0">
                <a:latin typeface="Consolas"/>
              </a:rPr>
              <a:t>└──────────────────────────────────────────────────────┘</a:t>
            </a:r>
          </a:p>
          <a:p/>
          <a:p>
            <a:r>
              <a:rPr sz="900" b="0">
                <a:latin typeface="Consolas"/>
              </a:rPr>
              <a:t>Принципы: stateless; без хранения данных; логи без ПДн; Docker в контуре банка.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latin typeface="Calibri"/>
              </a:rPr>
              <a:t>Безопасность и соответствие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1358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Аспект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Как обеспечено</a:t>
                      </a:r>
                    </a:p>
                  </a:txBody>
                  <a:tcPr/>
                </a:tc>
              </a:tr>
              <a:tr h="51358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Хранение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Только RAM на время запроса</a:t>
                      </a:r>
                    </a:p>
                  </a:txBody>
                  <a:tcPr/>
                </a:tc>
              </a:tr>
              <a:tr h="51358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Zero retention (OpenAI, Anthropic)</a:t>
                      </a:r>
                    </a:p>
                  </a:txBody>
                  <a:tcPr/>
                </a:tc>
              </a:tr>
              <a:tr h="51358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Логирование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latency, статус, токены — без ПДн</a:t>
                      </a:r>
                    </a:p>
                  </a:txBody>
                  <a:tcPr/>
                </a:tc>
              </a:tr>
              <a:tr h="51358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Инфраструктура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ЦОД банка или beCloud</a:t>
                      </a:r>
                    </a:p>
                  </a:txBody>
                  <a:tcPr/>
                </a:tc>
              </a:tr>
              <a:tr h="51358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Отказоустойчивость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Два LLM + Emergency Mode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Интеграция — 1 день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Шаг 1: экспорт алерта (CSV/JSON). Шаг 2: загрузка в Amber (API или форма). Шаг 3: результат за 3–5 с.</a:t>
            </a:r>
          </a:p>
          <a:p>
            <a:pPr/>
            <a:r>
              <a:rPr sz="1500" b="0">
                <a:latin typeface="Calibri"/>
              </a:rPr>
              <a:t>Результат: объяснение риска, проект SAR, anomaly score, рекомендации.</a:t>
            </a:r>
          </a:p>
          <a:p>
            <a:pPr/>
            <a:r>
              <a:rPr sz="1500" b="0">
                <a:latin typeface="Calibri"/>
              </a:rPr>
              <a:t>Не нужно: замена AML, доступ к БД, долгое обучение, полугодовой цикл внедрения.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Amber — сейчас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1. Регулятор: с 01.07.2026 единая антифрод-система с ИИ — Amber закрывает требование автоматического анализа.</a:t>
            </a:r>
          </a:p>
          <a:p>
            <a:pPr/>
            <a:r>
              <a:rPr sz="1500" b="0">
                <a:latin typeface="Calibri"/>
              </a:rPr>
              <a:t>2. Крипто-трансформация (Указ №19): без сквозного анализа — повышенный риск.</a:t>
            </a:r>
          </a:p>
          <a:p>
            <a:pPr/>
            <a:r>
              <a:rPr sz="1500" b="0">
                <a:latin typeface="Calibri"/>
              </a:rPr>
              <a:t>3. Кадры: офицер с Amber обрабатывает ~в 3 раза больше алертов.</a:t>
            </a:r>
          </a:p>
          <a:p>
            <a:pPr/>
            <a:r>
              <a:rPr sz="1500" b="0">
                <a:latin typeface="Calibri"/>
              </a:rPr>
              <a:t>4. Локально под РБ/ПВТ; глобальные вендоры не заточены под двойной надзор.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Пилотное предложение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Формат: бесплатный пилот на 50 анализов, срок 2 недели.</a:t>
            </a:r>
          </a:p>
          <a:p>
            <a:pPr/>
            <a:r>
              <a:rPr sz="1500" b="0">
                <a:latin typeface="Calibri"/>
              </a:rPr>
              <a:t>От банка: обезличенные данные по 10–20 реальным алертам.</a:t>
            </a:r>
          </a:p>
          <a:p>
            <a:pPr/>
            <a:r>
              <a:rPr sz="1500" b="0">
                <a:latin typeface="Calibri"/>
              </a:rPr>
              <a:t>Вы получаете: полный разбор + SAR; сравнение времени ручного разбора vs Amber; отчёт по паттернам; рекомендации по интеграции.</a:t>
            </a:r>
          </a:p>
          <a:p>
            <a:pPr/>
            <a:r>
              <a:rPr sz="1500" b="0">
                <a:latin typeface="Calibri"/>
              </a:rPr>
              <a:t>Итог: решение о внедрении на ваших цифрах.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Приложение: технические детали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0">
                <a:latin typeface="Calibri"/>
              </a:rPr>
              <a:t>API: REST, JSON · HTTPS · API-ключ · CSV/JSON · ответ 3–5 с · Docker.</a:t>
            </a:r>
          </a:p>
          <a:p>
            <a:pPr/>
            <a:r>
              <a:rPr sz="1500" b="0">
                <a:latin typeface="Calibri"/>
              </a:rPr>
              <a:t>Стек: Python 3.12, FastAPI, GPT-4o / Claude 3.5 Sonnet, LangChain, pandas, Pydantic.</a:t>
            </a:r>
          </a:p>
          <a:p>
            <a:pPr/>
            <a:r>
              <a:rPr sz="1500" b="0">
                <a:latin typeface="Calibri"/>
              </a:rPr>
              <a:t>Инфраструктура банка: HTTPS к внешнему API или Docker в контуре.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